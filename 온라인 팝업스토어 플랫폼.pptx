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8600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0B1B3A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0B1B3A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2775204" cy="310896"/>
          </a:xfrm>
          <a:prstGeom prst="roundRect">
            <a:avLst>
              <a:gd name="adj" fmla="val 23529"/>
            </a:avLst>
          </a:prstGeom>
          <a:solidFill>
            <a:srgbClr val="1328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777240"/>
            <a:ext cx="27752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BUSINESS DESIGN · SCREEN DECK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온라인 팝업스토어 플랫폼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2999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 err="1">
                <a:solidFill>
                  <a:srgbClr val="F0D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오프라인</a:t>
            </a:r>
            <a:r>
              <a:rPr lang="en-US" sz="1800" i="1" dirty="0">
                <a:solidFill>
                  <a:srgbClr val="F0D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800" i="1" dirty="0" err="1">
                <a:solidFill>
                  <a:srgbClr val="F0D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팝업의</a:t>
            </a:r>
            <a:r>
              <a:rPr lang="en-US" sz="1800" i="1" dirty="0">
                <a:solidFill>
                  <a:srgbClr val="F0D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800" i="1" dirty="0">
                <a:solidFill>
                  <a:srgbClr val="F0D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느낌을</a:t>
            </a:r>
            <a:r>
              <a:rPr lang="en-US" sz="1800" i="1" dirty="0">
                <a:solidFill>
                  <a:srgbClr val="F0D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en-US" sz="1800" i="1" dirty="0" err="1">
                <a:solidFill>
                  <a:srgbClr val="F0D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온라인</a:t>
            </a:r>
            <a:r>
              <a:rPr lang="ko-KR" altLang="en-US" i="1" dirty="0">
                <a:solidFill>
                  <a:srgbClr val="F0D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구현하는 </a:t>
            </a:r>
            <a:r>
              <a:rPr lang="en-US" altLang="ko-KR" i="1" dirty="0">
                <a:solidFill>
                  <a:srgbClr val="F0D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</a:t>
            </a:r>
            <a:r>
              <a:rPr lang="ko-KR" altLang="en-US" i="1" dirty="0">
                <a:solidFill>
                  <a:srgbClr val="F0D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최초의</a:t>
            </a:r>
            <a:r>
              <a:rPr lang="en-US" altLang="ko-KR" i="1" dirty="0">
                <a:solidFill>
                  <a:srgbClr val="F0D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’ </a:t>
            </a:r>
            <a:r>
              <a:rPr lang="ko-KR" altLang="en-US" i="1" dirty="0">
                <a:solidFill>
                  <a:srgbClr val="F0D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메타버스 쇼핑몰 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3794760"/>
            <a:ext cx="2926080" cy="0"/>
          </a:xfrm>
          <a:prstGeom prst="line">
            <a:avLst/>
          </a:prstGeom>
          <a:noFill/>
          <a:ln w="15875">
            <a:solidFill>
              <a:srgbClr val="2A3B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59" y="4023360"/>
            <a:ext cx="830328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50" dirty="0">
                <a:solidFill>
                  <a:srgbClr val="CBD3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450" dirty="0">
                <a:solidFill>
                  <a:srgbClr val="CBD3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사업모델은 </a:t>
            </a:r>
            <a:r>
              <a:rPr lang="en-US" sz="1450" dirty="0" err="1">
                <a:solidFill>
                  <a:srgbClr val="CBD3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오프라인</a:t>
            </a:r>
            <a:r>
              <a:rPr lang="en-US" sz="1450" dirty="0">
                <a:solidFill>
                  <a:srgbClr val="CBD3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팝업스토어의 「들어가서 구경하는」 경험을 온라인 공간에 그대로 구현하고, </a:t>
            </a:r>
            <a:br>
              <a:rPr lang="en-US" sz="1450" dirty="0">
                <a:solidFill>
                  <a:srgbClr val="CBD3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450" dirty="0">
                <a:solidFill>
                  <a:srgbClr val="CBD3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안에서 실물 상품의 주문·결제·배송까지 하나의 흐름으로 연결하는 커머스 플랫폼입니다.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5989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3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7월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63550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78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첨부된 화면 중 일부는 실제 구현된 화면이며, 일부는 완성 형태를 미리 제시한 기획 시안입니다.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실물 커머스 중심의 몰입형 팝업 플랫폼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픽셀 매장·채팅·구매 </a:t>
            </a:r>
            <a:r>
              <a:rPr lang="en-US" sz="1400" dirty="0" err="1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이벤트는</a:t>
            </a:r>
            <a:r>
              <a:rPr lang="en-US" sz="1400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400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오프라인 팝업 스토어에 고객이 가고 싶어 하는 니즈를 충족 시켜줍니다</a:t>
            </a:r>
            <a:r>
              <a:rPr lang="en-US" altLang="ko-KR" sz="1400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br>
              <a:rPr lang="en-US" altLang="ko-KR" sz="1400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400" dirty="0" err="1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플랫폼의</a:t>
            </a:r>
            <a:r>
              <a:rPr lang="en-US" sz="1400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본질은 실물 구매 · 배송 · 주문 · 스토어 운영이라는 커머스의 기본기에 </a:t>
            </a:r>
            <a:r>
              <a:rPr lang="en-US" sz="1400" dirty="0" err="1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있습니다</a:t>
            </a:r>
            <a:r>
              <a:rPr lang="en-US" sz="1400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</a:t>
            </a:r>
            <a:r>
              <a:rPr lang="ko-KR" altLang="en-US" sz="1400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메타버스 사업이 아닙니다</a:t>
            </a:r>
            <a:r>
              <a:rPr lang="en-US" altLang="ko-KR" sz="1400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br>
              <a:rPr lang="en-US" altLang="ko-KR" sz="1400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ko-KR" altLang="en-US" sz="1400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또한 팝업은 단순히 마케팅 용도로만 사용되지 않습니다</a:t>
            </a:r>
            <a:r>
              <a:rPr lang="en-US" altLang="ko-KR" sz="1400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</a:t>
            </a:r>
            <a:r>
              <a:rPr lang="ko-KR" altLang="en-US" sz="1400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충성고객에 경험을 통해 리워드를 주는 형태의 팬서비스 영역이기도 하며</a:t>
            </a:r>
            <a:br>
              <a:rPr lang="en-US" altLang="ko-KR" sz="1400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ko-KR" altLang="en-US" sz="1400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고객들은 </a:t>
            </a:r>
            <a:r>
              <a:rPr lang="ko-KR" altLang="en-US" sz="1400" dirty="0" err="1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팬심과</a:t>
            </a:r>
            <a:r>
              <a:rPr lang="ko-KR" altLang="en-US" sz="1400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400" dirty="0" err="1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덕질로</a:t>
            </a:r>
            <a:r>
              <a:rPr lang="ko-KR" altLang="en-US" sz="1400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인해 방문을 하는 경우도 다분합니다</a:t>
            </a:r>
            <a:r>
              <a:rPr lang="en-US" altLang="ko-KR" sz="1400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</a:t>
            </a:r>
            <a:r>
              <a:rPr lang="ko-KR" altLang="en-US" sz="1400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자의에 의해 가 본 사람의 의견을 들어 </a:t>
            </a:r>
            <a:r>
              <a:rPr lang="ko-KR" altLang="en-US" sz="140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보시면 좋을 거 </a:t>
            </a:r>
            <a:r>
              <a:rPr lang="ko-KR" altLang="en-US" sz="1400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같습니다</a:t>
            </a:r>
            <a:r>
              <a:rPr lang="en-US" altLang="ko-KR" sz="1400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3364992" cy="3291840"/>
          </a:xfrm>
          <a:prstGeom prst="roundRect">
            <a:avLst>
              <a:gd name="adj" fmla="val 2500"/>
            </a:avLst>
          </a:prstGeom>
          <a:solidFill>
            <a:srgbClr val="0B1B3A"/>
          </a:solidFill>
          <a:ln w="12700">
            <a:solidFill>
              <a:srgbClr val="1E2C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29718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B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15568" y="3749040"/>
            <a:ext cx="2779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Pretendard" pitchFamily="34" charset="0"/>
              </a:rPr>
              <a:t>비교적 가벼운 개발 볼륨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115568" y="4389120"/>
            <a:ext cx="50292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4572000"/>
            <a:ext cx="27797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회원의 </a:t>
            </a:r>
            <a:r>
              <a:rPr lang="en-US" sz="1150" dirty="0" err="1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쇼핑·팝업</a:t>
            </a:r>
            <a:r>
              <a:rPr lang="en-US" sz="115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dirty="0" err="1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입장</a:t>
            </a:r>
            <a:r>
              <a:rPr lang="ko-KR" altLang="en-US" sz="115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</a:t>
            </a:r>
            <a:r>
              <a:rPr lang="en-US" sz="115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dirty="0" err="1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매장·상품·주문</a:t>
            </a:r>
            <a:r>
              <a:rPr lang="en-US" sz="115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dirty="0" err="1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</a:t>
            </a:r>
            <a:r>
              <a:rPr lang="ko-KR" altLang="en-US" sz="115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</a:t>
            </a:r>
            <a:r>
              <a:rPr lang="ko-KR" altLang="en-US" sz="1150" dirty="0" err="1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투웨이</a:t>
            </a:r>
            <a:r>
              <a:rPr lang="ko-KR" altLang="en-US" sz="115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구조로 이원화 하여 개발비용을 대폭 줄일 수 있습니다</a:t>
            </a:r>
            <a:r>
              <a:rPr lang="en-US" altLang="ko-KR" sz="115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62272" y="2697480"/>
            <a:ext cx="3364992" cy="3291840"/>
          </a:xfrm>
          <a:prstGeom prst="roundRect">
            <a:avLst>
              <a:gd name="adj" fmla="val 2500"/>
            </a:avLst>
          </a:prstGeom>
          <a:solidFill>
            <a:srgbClr val="0B1B3A"/>
          </a:solidFill>
          <a:ln w="12700">
            <a:solidFill>
              <a:srgbClr val="1E2C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29718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B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36592" y="3749040"/>
            <a:ext cx="2779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공간형 쇼핑 경험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736592" y="4389120"/>
            <a:ext cx="50292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3816" y="4572000"/>
            <a:ext cx="29443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픽셀로 구현한 팝업 매장 </a:t>
            </a:r>
            <a:r>
              <a:rPr lang="en-US" sz="1150" dirty="0" err="1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안을</a:t>
            </a:r>
            <a:r>
              <a:rPr lang="en-US" sz="115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dirty="0" err="1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캐릭터로</a:t>
            </a:r>
            <a:br>
              <a:rPr lang="en-US" sz="115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150" dirty="0" err="1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이동하며</a:t>
            </a:r>
            <a:r>
              <a:rPr lang="en-US" sz="115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진열된 상품을 </a:t>
            </a:r>
            <a:r>
              <a:rPr lang="en-US" sz="1150" dirty="0" err="1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</a:t>
            </a:r>
            <a:r>
              <a:rPr lang="en-US" sz="115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dirty="0" err="1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</a:t>
            </a:r>
            <a:r>
              <a:rPr lang="en-US" sz="115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dirty="0" err="1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기반</a:t>
            </a:r>
            <a:br>
              <a:rPr lang="en-US" sz="115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150" dirty="0" err="1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상세페이지로</a:t>
            </a:r>
            <a:r>
              <a:rPr lang="en-US" sz="115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자연스럽게 연결합니다.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65008" y="2697480"/>
            <a:ext cx="3364992" cy="3291840"/>
          </a:xfrm>
          <a:prstGeom prst="roundRect">
            <a:avLst>
              <a:gd name="adj" fmla="val 2500"/>
            </a:avLst>
          </a:prstGeom>
          <a:solidFill>
            <a:srgbClr val="0B1B3A"/>
          </a:solidFill>
          <a:ln w="12700">
            <a:solidFill>
              <a:srgbClr val="1E2C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29718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B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57616" y="3749040"/>
            <a:ext cx="2779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검증된 커머스 흐름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357616" y="4389120"/>
            <a:ext cx="50292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7616" y="4572000"/>
            <a:ext cx="27797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장바구니·배송지·결제·구매 후 혜택까지 일반 쇼핑몰과 동일한 신뢰도 높은 구매 여정을 그대로 계승합니다.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POP-UP CUBE  ·  온라인 팝업스토어 플랫폼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402775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플랫폼 구조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1B1F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관리는 PC 웹, 쇼핑은 모바일 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536192"/>
            <a:ext cx="7223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매장·상품·주문 관리는 PC 웹(스토어 관리자 전용)에서, 일반 회원의 쇼핑과 팝업 입장은 모바일 앱에서 이루어집니다. 판매자용 관리 사이트와 회원용 앱을 분리하는, 일반 이커머스와 동일한 검증된 </a:t>
            </a:r>
            <a:r>
              <a:rPr lang="en-US" sz="13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구조입니다</a:t>
            </a: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저는 여성의류 쇼핑몰 </a:t>
            </a:r>
            <a:r>
              <a:rPr lang="ko-KR" altLang="en-US" sz="13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에이블리에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입점한 랭킹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3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마켓찜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더핑크에서의 근무 이력을 통해 온라인 쇼핑몰 구조를 정확하고 확실히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알고 있습니다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b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ko-KR" altLang="en-US" sz="13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에이블리는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203040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여성이라면 무조건 사용하는 배달의 민족 같은 어플입니다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3063240"/>
            <a:ext cx="146304" cy="822960"/>
          </a:xfrm>
          <a:prstGeom prst="roundRect">
            <a:avLst>
              <a:gd name="adj" fmla="val 18750"/>
            </a:avLst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30358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PC 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344728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스토어 관리자 전용 — 매장 개설, 상품 등록, 진열 배치, 주문 처리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146304" cy="822960"/>
          </a:xfrm>
          <a:prstGeom prst="roundRect">
            <a:avLst>
              <a:gd name="adj" fmla="val 18750"/>
            </a:avLst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40873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모바일 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449884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회원 쇼핑 + 스토어 관리자 겸용 — 팝업 입장, 구매, 매장 확인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366760" y="1463040"/>
            <a:ext cx="32461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17233F">
                <a:alpha val="32000"/>
              </a:srgbClr>
            </a:outerShdw>
          </a:effectLst>
        </p:spPr>
      </p:sp>
      <p:pic>
        <p:nvPicPr>
          <p:cNvPr id="12" name="Image 0" descr="/home/claude/assets_opt2/image17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66760" y="1463040"/>
            <a:ext cx="3246120" cy="2286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366760" y="1463040"/>
            <a:ext cx="3246120" cy="2286000"/>
          </a:xfrm>
          <a:prstGeom prst="rect">
            <a:avLst/>
          </a:prstGeom>
          <a:ln w="9525">
            <a:solidFill>
              <a:srgbClr val="D8D2C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66760" y="391363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시안 — PC 웹 스토어 관리 / 모바일 앱 회원·관리자 겸용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7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POP-UP CUBE  ·  온라인 팝업스토어 플랫폼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402775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플랫폼 구조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1B1F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권한에 맞춘 로그인 설계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PC 웹은 스토어 관리자 로그인만 제공하며, 모바일 앱은 일반 회원과 스토어 관리자 로그인을 </a:t>
            </a:r>
            <a:r>
              <a:rPr lang="en-US" sz="12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분리합니다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b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2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스토어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관리자가 앱으로 자신의 매장에 입장하면 닉네임에 왕관 등 점주 표시가 부여되어 신뢰도를 높입니다.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67119" y="2394857"/>
            <a:ext cx="528066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17233F">
                <a:alpha val="32000"/>
              </a:srgbClr>
            </a:outerShdw>
          </a:effectLst>
        </p:spPr>
      </p:sp>
      <p:pic>
        <p:nvPicPr>
          <p:cNvPr id="6" name="Image 0" descr="/home/claude/assets_opt2/image14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2386149"/>
            <a:ext cx="5280660" cy="3520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2377440"/>
            <a:ext cx="5280660" cy="3520440"/>
          </a:xfrm>
          <a:prstGeom prst="rect">
            <a:avLst/>
          </a:prstGeom>
          <a:ln w="9525">
            <a:solidFill>
              <a:srgbClr val="D8D2C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-651487" y="6007608"/>
            <a:ext cx="52806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PC 웹 — 관리자 로그인 전용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21781" y="2377440"/>
            <a:ext cx="528066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17233F">
                <a:alpha val="32000"/>
              </a:srgbClr>
            </a:outerShdw>
          </a:effectLst>
        </p:spPr>
      </p:sp>
      <p:pic>
        <p:nvPicPr>
          <p:cNvPr id="10" name="Image 1" descr="/home/claude/assets_opt2/image11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21781" y="2377440"/>
            <a:ext cx="4922086" cy="35204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921781" y="2377440"/>
            <a:ext cx="5280660" cy="3520440"/>
          </a:xfrm>
          <a:prstGeom prst="rect">
            <a:avLst/>
          </a:prstGeom>
          <a:ln w="9525">
            <a:solidFill>
              <a:srgbClr val="D8D2C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921781" y="6007608"/>
            <a:ext cx="52806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PC 웹 — 관리자 로그인 (자동 로그인)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9843867" y="2412274"/>
            <a:ext cx="2348133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17233F">
                <a:alpha val="32000"/>
              </a:srgbClr>
            </a:outerShdw>
          </a:effectLst>
        </p:spPr>
      </p:sp>
      <p:pic>
        <p:nvPicPr>
          <p:cNvPr id="14" name="Image 2" descr="/home/claude/assets_opt2/image13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843867" y="2377440"/>
            <a:ext cx="2348133" cy="35204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07369" y="6042442"/>
            <a:ext cx="234813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앱 — 회원 / 관리자 로그인 분리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7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POP-UP CUBE  ·  온라인 팝업스토어 플랫폼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9281160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왜 필요한가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1B1F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오프라인 팝업의 한계를 구조적으로 해결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오프라인 팝업은 몰입감은 뛰어나지만 기간·장소의 제약이 크고, 일반 쇼핑몰은 편리하지만 「팝업에 와 본」 경험이 없습니다.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2121408"/>
            <a:ext cx="10515600" cy="1920240"/>
          </a:xfrm>
          <a:prstGeom prst="roundRect">
            <a:avLst>
              <a:gd name="adj" fmla="val 4762"/>
            </a:avLst>
          </a:prstGeom>
          <a:solidFill>
            <a:srgbClr val="070F24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E78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큰 제약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2670048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8A93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기간·장소의 물리적 제약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989320" y="2532888"/>
            <a:ext cx="0" cy="1097280"/>
          </a:xfrm>
          <a:prstGeom prst="line">
            <a:avLst/>
          </a:prstGeom>
          <a:noFill/>
          <a:ln w="15875">
            <a:solidFill>
              <a:srgbClr val="2334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23560" y="276148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플랫폼의 답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2670048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 하나로, 언제든 어디서든 입장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22960" y="43159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A93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밖의 구조적 차이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4663440"/>
            <a:ext cx="2491740" cy="1417320"/>
          </a:xfrm>
          <a:prstGeom prst="roundRect">
            <a:avLst>
              <a:gd name="adj" fmla="val 3871"/>
            </a:avLst>
          </a:prstGeom>
          <a:solidFill>
            <a:srgbClr val="F5F2E9"/>
          </a:solidFill>
          <a:ln w="9525">
            <a:solidFill>
              <a:srgbClr val="E7E1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791456"/>
            <a:ext cx="21991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93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줄서기·이동 부담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69264" y="5376672"/>
            <a:ext cx="2199132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5449824"/>
            <a:ext cx="21991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5C4E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집에서도 매장에 「들어가」 구경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97580" y="4663440"/>
            <a:ext cx="2491740" cy="1417320"/>
          </a:xfrm>
          <a:prstGeom prst="roundRect">
            <a:avLst>
              <a:gd name="adj" fmla="val 3871"/>
            </a:avLst>
          </a:prstGeom>
          <a:solidFill>
            <a:srgbClr val="F5F2E9"/>
          </a:solidFill>
          <a:ln w="9525">
            <a:solidFill>
              <a:srgbClr val="E7E1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43884" y="4791456"/>
            <a:ext cx="21991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93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방문한 사람 중심 경험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43884" y="5376672"/>
            <a:ext cx="2199132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43884" y="5449824"/>
            <a:ext cx="21991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5C4E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 입장, 다른 방문자와 실시간 관람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72200" y="4663440"/>
            <a:ext cx="2491740" cy="1417320"/>
          </a:xfrm>
          <a:prstGeom prst="roundRect">
            <a:avLst>
              <a:gd name="adj" fmla="val 3871"/>
            </a:avLst>
          </a:prstGeom>
          <a:solidFill>
            <a:srgbClr val="F5F2E9"/>
          </a:solidFill>
          <a:ln w="9525">
            <a:solidFill>
              <a:srgbClr val="E7E1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18504" y="4791456"/>
            <a:ext cx="21991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93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목록 위주의 자사몰 UX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18504" y="5376672"/>
            <a:ext cx="2199132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18504" y="5449824"/>
            <a:ext cx="21991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5C4E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공간감·진열이 살아있는 「팝업」 경험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846820" y="4663440"/>
            <a:ext cx="2491740" cy="1417320"/>
          </a:xfrm>
          <a:prstGeom prst="roundRect">
            <a:avLst>
              <a:gd name="adj" fmla="val 3871"/>
            </a:avLst>
          </a:prstGeom>
          <a:solidFill>
            <a:srgbClr val="F5F2E9"/>
          </a:solidFill>
          <a:ln w="9525">
            <a:solidFill>
              <a:srgbClr val="E7E1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93124" y="4791456"/>
            <a:ext cx="21991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93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가상공간과 실물 판매의 단절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993124" y="5376672"/>
            <a:ext cx="2199132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93124" y="5449824"/>
            <a:ext cx="21991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5C4E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구경 이후 주문·배송까지 한 흐름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7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POP-UP CUBE  ·  온라인 팝업스토어 플랫폼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402775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왜 필요한가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1B1F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쇼핑몰·게임형 가상세계와의 차별점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0515600" cy="1783080"/>
          </a:xfrm>
          <a:prstGeom prst="roundRect">
            <a:avLst>
              <a:gd name="adj" fmla="val 5128"/>
            </a:avLst>
          </a:prstGeom>
          <a:solidFill>
            <a:srgbClr val="070F24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9293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차별점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2221992"/>
            <a:ext cx="987987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들어가 보고, </a:t>
            </a:r>
            <a:r>
              <a:rPr lang="en-US" sz="34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실물도</a:t>
            </a:r>
            <a:r>
              <a:rPr lang="en-US" sz="3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3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구매할 수 있는 온라인 쇼핑몰</a:t>
            </a:r>
            <a:r>
              <a:rPr lang="en-US" altLang="ko-KR" sz="3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88720" y="2935224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「팝업에 온 기분」으로 실물을 구매하고, 구매 이후에도 공간과 아바타 안에서 그 경험이 이어집니다.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8221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A93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 구도 상세 비교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14600" y="41605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EA7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쇼핑몰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303520" y="41605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EA7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게임형 가상세계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092440" y="4160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6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플랫폼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2960" y="5111496"/>
            <a:ext cx="1581912" cy="0"/>
          </a:xfrm>
          <a:prstGeom prst="line">
            <a:avLst/>
          </a:prstGeom>
          <a:noFill/>
          <a:ln w="9525">
            <a:solidFill>
              <a:srgbClr val="E7E1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4544568"/>
            <a:ext cx="1472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B5D3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구성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14600" y="5111496"/>
            <a:ext cx="2679192" cy="0"/>
          </a:xfrm>
          <a:prstGeom prst="line">
            <a:avLst/>
          </a:prstGeom>
          <a:noFill/>
          <a:ln w="9525">
            <a:solidFill>
              <a:srgbClr val="E7E1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9464" y="4544568"/>
            <a:ext cx="2569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AEA7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목록 나열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03520" y="5111496"/>
            <a:ext cx="2679192" cy="0"/>
          </a:xfrm>
          <a:prstGeom prst="line">
            <a:avLst/>
          </a:prstGeom>
          <a:noFill/>
          <a:ln w="9525">
            <a:solidFill>
              <a:srgbClr val="E7E1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58384" y="4544568"/>
            <a:ext cx="2569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AEA7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무거운 맵 제작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92440" y="5111496"/>
            <a:ext cx="3136392" cy="0"/>
          </a:xfrm>
          <a:prstGeom prst="line">
            <a:avLst/>
          </a:prstGeom>
          <a:noFill/>
          <a:ln w="9525">
            <a:solidFill>
              <a:srgbClr val="E7E1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47304" y="4544568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1F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관리자가 직접 꾸미는 팝업 공간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5769864"/>
            <a:ext cx="1581912" cy="0"/>
          </a:xfrm>
          <a:prstGeom prst="line">
            <a:avLst/>
          </a:prstGeom>
          <a:noFill/>
          <a:ln w="9525">
            <a:solidFill>
              <a:srgbClr val="E7E1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5202936"/>
            <a:ext cx="1472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B5D3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 이벤트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14600" y="5769864"/>
            <a:ext cx="2679192" cy="0"/>
          </a:xfrm>
          <a:prstGeom prst="line">
            <a:avLst/>
          </a:prstGeom>
          <a:noFill/>
          <a:ln w="9525">
            <a:solidFill>
              <a:srgbClr val="E7E1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9464" y="5202936"/>
            <a:ext cx="2569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AEA7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쿠폰 중심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03520" y="5769864"/>
            <a:ext cx="2679192" cy="0"/>
          </a:xfrm>
          <a:prstGeom prst="line">
            <a:avLst/>
          </a:prstGeom>
          <a:noFill/>
          <a:ln w="9525">
            <a:solidFill>
              <a:srgbClr val="E7E1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58384" y="5202936"/>
            <a:ext cx="2569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AEA7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패스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092440" y="5769864"/>
            <a:ext cx="3136392" cy="0"/>
          </a:xfrm>
          <a:prstGeom prst="line">
            <a:avLst/>
          </a:prstGeom>
          <a:noFill/>
          <a:ln w="9525">
            <a:solidFill>
              <a:srgbClr val="E7E1D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47304" y="5202936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1F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 후 할인 또는 사은품(선택형)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7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POP-UP CUBE  ·  온라인 팝업스토어 플랫폼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402775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840480"/>
            <a:ext cx="5486400" cy="5486400"/>
          </a:xfrm>
          <a:prstGeom prst="ellipse">
            <a:avLst/>
          </a:prstGeom>
          <a:solidFill>
            <a:srgbClr val="0B1B3A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92B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68680" y="3611880"/>
            <a:ext cx="1188720" cy="0"/>
          </a:xfrm>
          <a:prstGeom prst="line">
            <a:avLst/>
          </a:prstGeom>
          <a:noFill/>
          <a:ln w="31750">
            <a:solidFill>
              <a:srgbClr val="D9A4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7947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Pretendard" pitchFamily="34" charset="0"/>
              </a:rPr>
              <a:t>구매 과정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6177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회원이 모바일 앱에서 팝업을 발견하고, 매장에 </a:t>
            </a:r>
            <a:r>
              <a:rPr lang="en-US" sz="1350" dirty="0" err="1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입장해</a:t>
            </a:r>
            <a:r>
              <a:rPr lang="en-US" sz="135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50" dirty="0" err="1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구경하며</a:t>
            </a:r>
            <a:br>
              <a:rPr lang="en-US" sz="135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350" dirty="0" err="1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실물</a:t>
            </a:r>
            <a:r>
              <a:rPr lang="en-US" sz="135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상품을 구매하기까지의 전체 흐름입니다.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POP-UP CUBE  ·  온라인 팝업스토어 플랫폼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02775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회원 경험 여정  ·  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1B1F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동네별로 열린 팝업을 고릅니다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 로그인 후, 지금 열려 있는 여러 팝업을 한눈에 확인합니다. 같은 브랜드라도 동네(지역)마다 다른 팝업을 열 수 있어 「성수동 </a:t>
            </a:r>
            <a:r>
              <a:rPr lang="en-US" sz="12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GUCCI」와</a:t>
            </a:r>
            <a:b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「청담 GUCCI」처럼 별개 매장으로 운영됩니다.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70636" y="2331720"/>
            <a:ext cx="2470114" cy="370332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17233F">
                <a:alpha val="32000"/>
              </a:srgbClr>
            </a:outerShdw>
          </a:effectLst>
        </p:spPr>
      </p:sp>
      <p:pic>
        <p:nvPicPr>
          <p:cNvPr id="6" name="Image 0" descr="/home/claude/assets_opt2/image1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70636" y="2331720"/>
            <a:ext cx="2470114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70636" y="2331720"/>
            <a:ext cx="2470114" cy="3703320"/>
          </a:xfrm>
          <a:prstGeom prst="rect">
            <a:avLst/>
          </a:prstGeom>
          <a:ln w="9525">
            <a:solidFill>
              <a:srgbClr val="D8D2C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33476" y="6163056"/>
            <a:ext cx="274443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 로그인 (자동 로그인)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60790" y="2331720"/>
            <a:ext cx="2470114" cy="370332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17233F">
                <a:alpha val="32000"/>
              </a:srgbClr>
            </a:outerShdw>
          </a:effectLst>
        </p:spPr>
      </p:sp>
      <p:pic>
        <p:nvPicPr>
          <p:cNvPr id="10" name="Image 1" descr="/home/claude/assets_opt2/image4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60790" y="2331720"/>
            <a:ext cx="2470114" cy="3703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860790" y="2331720"/>
            <a:ext cx="2470114" cy="3703320"/>
          </a:xfrm>
          <a:prstGeom prst="rect">
            <a:avLst/>
          </a:prstGeom>
          <a:ln w="9525">
            <a:solidFill>
              <a:srgbClr val="D8D2C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723630" y="6163056"/>
            <a:ext cx="274443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동네 필터 + 구역별 열린 팝업 목록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650945" y="2331720"/>
            <a:ext cx="2470114" cy="370332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17233F">
                <a:alpha val="32000"/>
              </a:srgbClr>
            </a:outerShdw>
          </a:effectLst>
        </p:spPr>
      </p:sp>
      <p:pic>
        <p:nvPicPr>
          <p:cNvPr id="14" name="Image 2" descr="/home/claude/assets_opt2/image7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50945" y="2331720"/>
            <a:ext cx="2470114" cy="37033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650945" y="2331720"/>
            <a:ext cx="2470114" cy="3703320"/>
          </a:xfrm>
          <a:prstGeom prst="rect">
            <a:avLst/>
          </a:prstGeom>
          <a:ln w="9525">
            <a:solidFill>
              <a:srgbClr val="D8D2C2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513785" y="6163056"/>
            <a:ext cx="274443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정보 확인 후 입장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7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POP-UP CUBE  ·  온라인 팝업스토어 플랫폼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9402775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회원 경험 여정  ·  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1B1F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안을 걸어 다니며 구경합니다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536192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입장하면 픽셀로 그려진 팝업 매장이 펼쳐집니다. 옆 공간이 살짝 보이는 구조로 공간감을 살리고, 캐릭터로 자유롭게 이동하며 같은 매장 안 다른 방문자와 실시간으로 대화할 수 있습니다. 화면 하단에는 자주 쓰는 핵심 기능만 배치해 조작 부담을 </a:t>
            </a:r>
            <a:r>
              <a:rPr lang="en-US" sz="12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낮췄습니다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b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ko-KR" alt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메타버스가 사장된 이유는 복잡한 </a:t>
            </a:r>
            <a:r>
              <a:rPr lang="en-US" altLang="ko-KR" sz="12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</a:t>
            </a:r>
            <a:r>
              <a:rPr lang="ko-KR" alt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때문입니다</a:t>
            </a:r>
            <a:r>
              <a:rPr lang="en-US" altLang="ko-KR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 초기 </a:t>
            </a:r>
            <a:r>
              <a:rPr lang="en-US" altLang="ko-KR" sz="12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</a:t>
            </a:r>
            <a:r>
              <a:rPr lang="en-US" altLang="ko-KR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en-US" altLang="ko-KR" sz="12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ux</a:t>
            </a:r>
            <a:r>
              <a:rPr lang="ko-KR" alt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전문가와 협업하기위한 자본이 필요하다고 </a:t>
            </a:r>
            <a:r>
              <a:rPr lang="ko-KR" altLang="en-US" sz="12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호소드립니다</a:t>
            </a:r>
            <a:r>
              <a:rPr lang="en-US" altLang="ko-KR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32461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70F2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53312" y="321868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상호작용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80360" y="321868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테이블·옷걸이에 올려둔 상품 확인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8130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70F2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813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53312" y="378561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채팅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80360" y="378561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매장 방문자와 실시간 대화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437997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70F2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379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53312" y="435254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880360" y="435254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담아 둔 상품 확인 및 결제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49469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70F2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46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53312" y="491947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상품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880360" y="491947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상품을 목록으로 한눈에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92440" y="1325880"/>
            <a:ext cx="3291840" cy="4942332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17233F">
                <a:alpha val="32000"/>
              </a:srgbClr>
            </a:outerShdw>
          </a:effectLst>
        </p:spPr>
      </p:sp>
      <p:pic>
        <p:nvPicPr>
          <p:cNvPr id="22" name="Image 0" descr="/home/claude/assets_opt2/image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0" y="1325880"/>
            <a:ext cx="3291840" cy="4942332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8092440" y="1325880"/>
            <a:ext cx="3291840" cy="4942332"/>
          </a:xfrm>
          <a:prstGeom prst="rect">
            <a:avLst/>
          </a:prstGeom>
          <a:ln w="9525">
            <a:solidFill>
              <a:srgbClr val="D8D2C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92440" y="6309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팝업 매장 안 — 이동 · 채팅 · 쇼핑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7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POP-UP CUBE  ·  온라인 팝업스토어 플랫폼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402775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회원 경험 여정  ·  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1B1F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진열된 상품을 고르고 착용해봅니다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오프라인처럼 테이블이나 옷걸이 앞에 서서 상호작용하면, 그 위에 올려둔 상품만 노출됩니다. 상품을 담고 바로 </a:t>
            </a:r>
            <a:r>
              <a:rPr lang="en-US" sz="12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구매하거나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  <a:b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2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아바타에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입혀보는 「착용해보기」로 구매 전 확신을 더합니다.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313283" y="2240280"/>
            <a:ext cx="2531105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17233F">
                <a:alpha val="32000"/>
              </a:srgbClr>
            </a:outerShdw>
          </a:effectLst>
        </p:spPr>
      </p:sp>
      <p:pic>
        <p:nvPicPr>
          <p:cNvPr id="6" name="Image 0" descr="/home/claude/assets_opt2/image8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13283" y="2240280"/>
            <a:ext cx="2531105" cy="3794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313283" y="2240280"/>
            <a:ext cx="2531105" cy="3794760"/>
          </a:xfrm>
          <a:prstGeom prst="rect">
            <a:avLst/>
          </a:prstGeom>
          <a:ln w="9525">
            <a:solidFill>
              <a:srgbClr val="D8D2C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38963" y="6163056"/>
            <a:ext cx="307974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 앞 진열 상품 선택 — 담기 · 구매 · 착용해보기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347308" y="2240280"/>
            <a:ext cx="2531105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17233F">
                <a:alpha val="32000"/>
              </a:srgbClr>
            </a:outerShdw>
          </a:effectLst>
        </p:spPr>
      </p:sp>
      <p:pic>
        <p:nvPicPr>
          <p:cNvPr id="10" name="Image 1" descr="/home/claude/assets_opt2/image5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47308" y="2240280"/>
            <a:ext cx="2531105" cy="3794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347308" y="2240280"/>
            <a:ext cx="2531105" cy="3794760"/>
          </a:xfrm>
          <a:prstGeom prst="rect">
            <a:avLst/>
          </a:prstGeom>
          <a:ln w="9525">
            <a:solidFill>
              <a:srgbClr val="D8D2C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072988" y="6163056"/>
            <a:ext cx="307974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착용해보기 — 아바타에 입혀 본 모습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7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POP-UP CUBE  ·  온라인 팝업스토어 플랫폼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9402775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회원 경험 여정  ·  STEP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6446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1B1F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기반 상품 상세로 구매를 확정합니다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536192"/>
            <a:ext cx="6126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진열 팝업의 「자세히 보기」나 전체 상품 목록에서 카드를 선택하면, 일반 쇼핑몰과 동일한 상품 상세로 이어집니다. 월드용 픽셀 이미지 대신 실제 상품 사진으로 설명·옵션·가격을 안내하여 구매 신뢰도를 높입니다.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926080"/>
            <a:ext cx="6126480" cy="2651760"/>
          </a:xfrm>
          <a:prstGeom prst="roundRect">
            <a:avLst>
              <a:gd name="adj" fmla="val 3103"/>
            </a:avLst>
          </a:prstGeom>
          <a:solidFill>
            <a:srgbClr val="0B1B3A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15468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쇼핑은 실사, 팝업 월드는 픽셀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43000" y="3657600"/>
            <a:ext cx="5577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상품이라도 노출되는 화면의 목적에 따라 이미지를 구분합니다. </a:t>
            </a:r>
            <a:r>
              <a:rPr lang="en-US" sz="1200" dirty="0" err="1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하단에는</a:t>
            </a:r>
            <a:br>
              <a:rPr lang="en-US" sz="1200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200" dirty="0" err="1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</a:t>
            </a:r>
            <a:r>
              <a:rPr lang="en-US" sz="1200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담기와 바로 구매가 고정되고, 그 아래로 </a:t>
            </a:r>
            <a:r>
              <a:rPr lang="en-US" sz="1200" dirty="0" err="1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착용해보기</a:t>
            </a:r>
            <a:r>
              <a:rPr lang="en-US" sz="1200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미리보기가</a:t>
            </a:r>
            <a:br>
              <a:rPr lang="en-US" sz="1200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200" dirty="0" err="1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이어집니다</a:t>
            </a:r>
            <a:r>
              <a:rPr lang="en-US" sz="1200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269480" y="1325880"/>
            <a:ext cx="411480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17233F">
                <a:alpha val="32000"/>
              </a:srgbClr>
            </a:outerShdw>
          </a:effectLst>
        </p:spPr>
      </p:sp>
      <p:pic>
        <p:nvPicPr>
          <p:cNvPr id="9" name="Image 0" descr="/home/claude/assets_opt2/image18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69480" y="1325880"/>
            <a:ext cx="4114800" cy="35204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269480" y="1325880"/>
            <a:ext cx="4114800" cy="3520440"/>
          </a:xfrm>
          <a:prstGeom prst="rect">
            <a:avLst/>
          </a:prstGeom>
          <a:ln w="9525">
            <a:solidFill>
              <a:srgbClr val="D8D2C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69480" y="4937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상세 — 실사 갤러리 · 하단 담기/구매/착용해보기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7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POP-UP CUBE  ·  온라인 팝업스토어 플랫폼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402775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회원 경험 여정  ·  STEP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1B1F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· 배송지 · 결제 — </a:t>
            </a:r>
            <a:r>
              <a:rPr lang="ko-KR" altLang="en-US" sz="2700" b="1" dirty="0">
                <a:solidFill>
                  <a:srgbClr val="1B1F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온라인 쇼핑몰</a:t>
            </a:r>
            <a:r>
              <a:rPr lang="en-US" sz="2700" b="1" dirty="0">
                <a:solidFill>
                  <a:srgbClr val="1B1F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흐름 그대로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결제와 배송은 일반 쇼핑몰과 동일한 구조입니다. 상품을 담고 배송지를 입력하면 주문이 </a:t>
            </a:r>
            <a:r>
              <a:rPr lang="en-US" sz="12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완료되며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  <a:b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2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목록과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썸네일도 실사 사진 </a:t>
            </a:r>
            <a:r>
              <a:rPr lang="en-US" sz="12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기준으로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통일해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신뢰도를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유지합니다.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162122" y="2240280"/>
            <a:ext cx="2409124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17233F">
                <a:alpha val="32000"/>
              </a:srgbClr>
            </a:outerShdw>
          </a:effectLst>
        </p:spPr>
      </p:sp>
      <p:pic>
        <p:nvPicPr>
          <p:cNvPr id="6" name="Image 0" descr="/home/claude/assets_opt2/image9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62122" y="2240280"/>
            <a:ext cx="2409124" cy="3611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162122" y="2240280"/>
            <a:ext cx="2409124" cy="3611880"/>
          </a:xfrm>
          <a:prstGeom prst="rect">
            <a:avLst/>
          </a:prstGeom>
          <a:ln w="9525">
            <a:solidFill>
              <a:srgbClr val="D8D2C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24962" y="5980176"/>
            <a:ext cx="26834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전체 상품 목록 · 담기 + 상세 보기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91286" y="2240280"/>
            <a:ext cx="2409124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17233F">
                <a:alpha val="32000"/>
              </a:srgbClr>
            </a:outerShdw>
          </a:effectLst>
        </p:spPr>
      </p:sp>
      <p:pic>
        <p:nvPicPr>
          <p:cNvPr id="10" name="Image 1" descr="/home/claude/assets_opt2/image6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91286" y="2240280"/>
            <a:ext cx="2409124" cy="3611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891286" y="2240280"/>
            <a:ext cx="2409124" cy="3611880"/>
          </a:xfrm>
          <a:prstGeom prst="rect">
            <a:avLst/>
          </a:prstGeom>
          <a:ln w="9525">
            <a:solidFill>
              <a:srgbClr val="D8D2C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754126" y="5980176"/>
            <a:ext cx="26834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장바구니, 배송지, 혜택 선택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620450" y="2240280"/>
            <a:ext cx="2409124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17233F">
                <a:alpha val="32000"/>
              </a:srgbClr>
            </a:outerShdw>
          </a:effectLst>
        </p:spPr>
      </p:sp>
      <p:pic>
        <p:nvPicPr>
          <p:cNvPr id="14" name="Image 2" descr="/home/claude/assets_opt2/image1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20450" y="2240280"/>
            <a:ext cx="2409124" cy="361188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620450" y="2240280"/>
            <a:ext cx="2409124" cy="3611880"/>
          </a:xfrm>
          <a:prstGeom prst="rect">
            <a:avLst/>
          </a:prstGeom>
          <a:ln w="9525">
            <a:solidFill>
              <a:srgbClr val="D8D2C2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483290" y="5980176"/>
            <a:ext cx="26834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마이페이지 · 배송지 등록·관리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7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POP-UP CUBE  ·  온라인 팝업스토어 플랫폼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9402775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회원 경험 여정  ·  STEP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 이후에도 이어지는 즐거움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실물 결제가 끝난 뒤, 회원은 혜택 형태만 선택합니다. 추가 결제 없이 이미 완료된 주문에 붙는 </a:t>
            </a:r>
            <a:r>
              <a:rPr lang="en-US" sz="1300" dirty="0" err="1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혜택이므로</a:t>
            </a:r>
            <a:r>
              <a:rPr lang="en-US" sz="130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  <a:br>
              <a:rPr lang="en-US" sz="130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300" dirty="0" err="1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</a:t>
            </a:r>
            <a:r>
              <a:rPr lang="en-US" sz="130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결정을 방해하지 않으면서 재방문 동기를 더합니다.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50720" y="2834640"/>
            <a:ext cx="777240" cy="777240"/>
          </a:xfrm>
          <a:prstGeom prst="ellipse">
            <a:avLst/>
          </a:prstGeom>
          <a:solidFill>
            <a:srgbClr val="0B1B3A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50720" y="28346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3749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실물 상품 구매 · 결제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819400" y="3218688"/>
            <a:ext cx="2788920" cy="0"/>
          </a:xfrm>
          <a:prstGeom prst="line">
            <a:avLst/>
          </a:prstGeom>
          <a:noFill/>
          <a:ln w="19050">
            <a:solidFill>
              <a:srgbClr val="2A3B63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608320" y="2834640"/>
            <a:ext cx="777240" cy="777240"/>
          </a:xfrm>
          <a:prstGeom prst="ellipse">
            <a:avLst/>
          </a:prstGeom>
          <a:solidFill>
            <a:srgbClr val="0B1B3A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08320" y="28346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343400" y="3749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혜택 형태 선택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77000" y="3218688"/>
            <a:ext cx="2788920" cy="0"/>
          </a:xfrm>
          <a:prstGeom prst="line">
            <a:avLst/>
          </a:prstGeom>
          <a:noFill/>
          <a:ln w="19050">
            <a:solidFill>
              <a:srgbClr val="2A3B63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9265920" y="2834640"/>
            <a:ext cx="777240" cy="777240"/>
          </a:xfrm>
          <a:prstGeom prst="ellipse">
            <a:avLst/>
          </a:prstGeom>
          <a:solidFill>
            <a:srgbClr val="0B1B3A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65920" y="28346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001000" y="3749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할인 또는 사은품 뽑기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0B1B3A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754880"/>
            <a:ext cx="9875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1250" i="1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오프라인 팝업 스토어는 </a:t>
            </a:r>
            <a:r>
              <a:rPr lang="ko-KR" altLang="en-US" sz="1250" i="1" dirty="0" err="1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스쿱</a:t>
            </a:r>
            <a:r>
              <a:rPr lang="ko-KR" altLang="en-US" sz="1250" i="1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이벤트나 사은품 행사를 무조건 진행합니다</a:t>
            </a:r>
            <a:r>
              <a:rPr lang="en-US" altLang="ko-KR" sz="1250" i="1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br>
              <a:rPr lang="en-US" altLang="ko-KR" sz="1250" i="1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ko-KR" altLang="en-US" sz="1250" i="1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이를 온라인에 재현 </a:t>
            </a:r>
            <a:r>
              <a:rPr lang="ko-KR" altLang="en-US" sz="1250" i="1" dirty="0" err="1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하는것은</a:t>
            </a:r>
            <a:r>
              <a:rPr lang="ko-KR" altLang="en-US" sz="1250" i="1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오프라인과의 경쟁에서 확실한 경쟁력을 가집니다</a:t>
            </a:r>
            <a:r>
              <a:rPr lang="en-US" altLang="ko-KR" sz="1250" i="1" dirty="0">
                <a:solidFill>
                  <a:srgbClr val="C7CE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POP-UP CUBE  ·  온라인 팝업스토어 플랫폼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402775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840480"/>
            <a:ext cx="5486400" cy="5486400"/>
          </a:xfrm>
          <a:prstGeom prst="ellipse">
            <a:avLst/>
          </a:prstGeom>
          <a:solidFill>
            <a:srgbClr val="0B1B3A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92B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68680" y="3611880"/>
            <a:ext cx="1188720" cy="0"/>
          </a:xfrm>
          <a:prstGeom prst="line">
            <a:avLst/>
          </a:prstGeom>
          <a:noFill/>
          <a:ln w="31750">
            <a:solidFill>
              <a:srgbClr val="D9A4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7947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스토어 관리자 운영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6177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스토어 관리자는 PC 웹에서 팝업을 열고, 상품을 등록하고, 진열을 구성하며, 들어온 주문을 확인합니다.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POP-UP CUBE  ·  온라인 팝업스토어 플랫폼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02775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스토어 관리자 운영  ·  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1F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주소 검색만으로 팝업 지역을 지정합니다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개설 시 이름, 대표 이미지, 설명과 함께 팝업이 열릴 지역(동네)을 </a:t>
            </a:r>
            <a:r>
              <a:rPr lang="en-US" sz="12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지정합니다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b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지역 단위가 회원 앱의 동네 필터와 그대로 연결되어, 하나의 </a:t>
            </a:r>
            <a:r>
              <a:rPr lang="en-US" sz="12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브랜드도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지역별로</a:t>
            </a:r>
            <a:b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2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독립된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팝업으로 운영할 수 있습니다.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3246120"/>
            <a:ext cx="91440" cy="457200"/>
          </a:xfrm>
          <a:prstGeom prst="roundRect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3172968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만들기 — 이름 · 대표 이미지 · 설명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3904488"/>
            <a:ext cx="91440" cy="457200"/>
          </a:xfrm>
          <a:prstGeom prst="roundRect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831336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팝업 지역(동네) 지정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4562856"/>
            <a:ext cx="91440" cy="457200"/>
          </a:xfrm>
          <a:prstGeom prst="roundRect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489704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등록 및 진열 배치로 연결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69480" y="1417320"/>
            <a:ext cx="4114800" cy="3758184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17233F">
                <a:alpha val="32000"/>
              </a:srgbClr>
            </a:outerShdw>
          </a:effectLst>
        </p:spPr>
      </p:sp>
      <p:pic>
        <p:nvPicPr>
          <p:cNvPr id="12" name="Image 0" descr="/home/claude/assets_opt2/image1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69480" y="1417320"/>
            <a:ext cx="4114800" cy="375818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269480" y="1417320"/>
            <a:ext cx="4114800" cy="3758184"/>
          </a:xfrm>
          <a:prstGeom prst="rect">
            <a:avLst/>
          </a:prstGeom>
          <a:ln w="9525">
            <a:solidFill>
              <a:srgbClr val="D8D2C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7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POP-UP CUBE  ·  온라인 팝업스토어 플랫폼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402775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스토어 관리자 운영  ·  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1F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탭 기반 상품 등록으로 실사와 픽셀을 한 번에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기본정보 → 상세 설명 → 이미지(실사) → 2D 월드용 → 미리보기 순으로 하나의 화면에서 등록을 완료합니다. </a:t>
            </a:r>
            <a:b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탭은 회원이 실제로 보게 될 화면과 그대로 연결됩니다.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92328" y="2331720"/>
            <a:ext cx="2487168" cy="1658112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17233F">
                <a:alpha val="32000"/>
              </a:srgbClr>
            </a:outerShdw>
          </a:effectLst>
        </p:spPr>
      </p:sp>
      <p:pic>
        <p:nvPicPr>
          <p:cNvPr id="6" name="Image 0" descr="/home/claude/assets_opt2/image15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2328" y="2331720"/>
            <a:ext cx="2487168" cy="16581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2328" y="2331720"/>
            <a:ext cx="2487168" cy="1658112"/>
          </a:xfrm>
          <a:prstGeom prst="rect">
            <a:avLst/>
          </a:prstGeom>
          <a:ln w="9525">
            <a:solidFill>
              <a:srgbClr val="D8D2C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0888" y="4126992"/>
            <a:ext cx="26700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기본정보 — 상품명·가격·재고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98952" y="2331720"/>
            <a:ext cx="2487168" cy="1658112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17233F">
                <a:alpha val="32000"/>
              </a:srgbClr>
            </a:outerShdw>
          </a:effectLst>
        </p:spPr>
      </p:sp>
      <p:pic>
        <p:nvPicPr>
          <p:cNvPr id="10" name="Image 1" descr="/home/claude/assets_opt2/image16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98952" y="2331720"/>
            <a:ext cx="2487168" cy="165811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98952" y="2331720"/>
            <a:ext cx="2487168" cy="1658112"/>
          </a:xfrm>
          <a:prstGeom prst="rect">
            <a:avLst/>
          </a:prstGeom>
          <a:ln w="9525">
            <a:solidFill>
              <a:srgbClr val="D8D2C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407512" y="4126992"/>
            <a:ext cx="26700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상세 설명 — 본문 작성·미리보기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205576" y="2331720"/>
            <a:ext cx="2487168" cy="1658112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17233F">
                <a:alpha val="32000"/>
              </a:srgbClr>
            </a:outerShdw>
          </a:effectLst>
        </p:spPr>
      </p:sp>
      <p:pic>
        <p:nvPicPr>
          <p:cNvPr id="14" name="Image 2" descr="/home/claude/assets_opt2/image3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05576" y="2331720"/>
            <a:ext cx="2487168" cy="165811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205576" y="2331720"/>
            <a:ext cx="2487168" cy="1658112"/>
          </a:xfrm>
          <a:prstGeom prst="rect">
            <a:avLst/>
          </a:prstGeom>
          <a:ln w="9525">
            <a:solidFill>
              <a:srgbClr val="D8D2C2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114136" y="4126992"/>
            <a:ext cx="26700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이미지(실사) — 쇼핑용 사진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8912200" y="2331720"/>
            <a:ext cx="2487168" cy="1658112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17233F">
                <a:alpha val="32000"/>
              </a:srgbClr>
            </a:outerShdw>
          </a:effectLst>
        </p:spPr>
      </p:sp>
      <p:pic>
        <p:nvPicPr>
          <p:cNvPr id="18" name="Image 3" descr="/home/claude/assets_opt2/image21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912200" y="2331720"/>
            <a:ext cx="2487168" cy="165811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912200" y="2331720"/>
            <a:ext cx="2487168" cy="1658112"/>
          </a:xfrm>
          <a:prstGeom prst="rect">
            <a:avLst/>
          </a:prstGeom>
          <a:ln w="9525">
            <a:solidFill>
              <a:srgbClr val="D8D2C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8820760" y="4126992"/>
            <a:ext cx="26700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미리보기 — 실사×2D 월드 비교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7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POP-UP CUBE  ·  온라인 팝업스토어 플랫폼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9402775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스토어 관리자 운영  ·  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1F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→ 픽셀 변환, 진열, 주문까지 하나의 흐름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「2D 월드용」탭에서 대표 실사 사진을 팝업 안에 쓸 픽셀 스프라이트로 변환합니다. 의류·가방류는 전·후·좌·우 4방향 미리보기로 검수 후 </a:t>
            </a:r>
            <a:r>
              <a:rPr lang="en-US" sz="12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반영되며,진열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가구 배치와 주문·배송지 확인까지 관리자 화면에서 이어집니다.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33476" y="2606040"/>
            <a:ext cx="3337560" cy="22250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17233F">
                <a:alpha val="32000"/>
              </a:srgbClr>
            </a:outerShdw>
          </a:effectLst>
        </p:spPr>
      </p:sp>
      <p:pic>
        <p:nvPicPr>
          <p:cNvPr id="6" name="Image 0" descr="/home/claude/assets_opt2/image2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3476" y="2606040"/>
            <a:ext cx="3337560" cy="2225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3476" y="2606040"/>
            <a:ext cx="3337560" cy="2225040"/>
          </a:xfrm>
          <a:prstGeom prst="rect">
            <a:avLst/>
          </a:prstGeom>
          <a:ln w="9525">
            <a:solidFill>
              <a:srgbClr val="D8D2C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2036" y="49682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→ 픽셀 변환 · 4방향 · 진열 미리보기 · 승인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427068" y="2606040"/>
            <a:ext cx="3337560" cy="22250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17233F">
                <a:alpha val="32000"/>
              </a:srgbClr>
            </a:outerShdw>
          </a:effectLst>
        </p:spPr>
      </p:sp>
      <p:pic>
        <p:nvPicPr>
          <p:cNvPr id="10" name="Image 1" descr="/home/claude/assets_opt2/image22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27068" y="2606040"/>
            <a:ext cx="3337560" cy="2225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27068" y="2606040"/>
            <a:ext cx="3337560" cy="2225040"/>
          </a:xfrm>
          <a:prstGeom prst="rect">
            <a:avLst/>
          </a:prstGeom>
          <a:ln w="9525">
            <a:solidFill>
              <a:srgbClr val="D8D2C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335628" y="49682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매장에 진열용 가구를 두고 상품 배치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8020660" y="2606040"/>
            <a:ext cx="3337560" cy="22250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17233F">
                <a:alpha val="32000"/>
              </a:srgbClr>
            </a:outerShdw>
          </a:effectLst>
        </p:spPr>
      </p:sp>
      <p:pic>
        <p:nvPicPr>
          <p:cNvPr id="14" name="Image 2" descr="/home/claude/assets_opt2/image19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20660" y="2606040"/>
            <a:ext cx="3337560" cy="222504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020660" y="2606040"/>
            <a:ext cx="3337560" cy="2225040"/>
          </a:xfrm>
          <a:prstGeom prst="rect">
            <a:avLst/>
          </a:prstGeom>
          <a:ln w="9525">
            <a:solidFill>
              <a:srgbClr val="D8D2C2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929220" y="49682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· 배송지 확인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7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POP-UP CUBE  ·  온라인 팝업스토어 플랫폼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9402775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구현 제안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한 장에서 팝업 월드까지 — 구현 방향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71907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아래는 확정된 기술 스택이 아니라, 이러한 방식으로 구현할 수 있다는 검토 자료입니다. 실제 도구·일정은 개발팀과 협의해 확정합니다.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2487168" cy="3337560"/>
          </a:xfrm>
          <a:prstGeom prst="roundRect">
            <a:avLst>
              <a:gd name="adj" fmla="val 2941"/>
            </a:avLst>
          </a:prstGeom>
          <a:solidFill>
            <a:srgbClr val="0B1B3A"/>
          </a:solidFill>
          <a:ln w="12700">
            <a:solidFill>
              <a:srgbClr val="1E2C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2651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7-1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2416" y="3081528"/>
            <a:ext cx="20482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상품, 두 가지 이미지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42416" y="3904488"/>
            <a:ext cx="204825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실사(쇼핑·주문용)와 </a:t>
            </a:r>
            <a:r>
              <a:rPr lang="en-US" sz="1000" dirty="0" err="1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픽셀</a:t>
            </a:r>
            <a:r>
              <a:rPr lang="en-US" sz="100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00" dirty="0" err="1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스프라이트</a:t>
            </a:r>
            <a:r>
              <a:rPr lang="en-US" sz="100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(팝업 월드용)를 함께 관리해, 용도에 </a:t>
            </a:r>
            <a:r>
              <a:rPr lang="en-US" sz="1000" dirty="0" err="1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맞는</a:t>
            </a:r>
            <a:r>
              <a:rPr lang="en-US" sz="100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00" dirty="0" err="1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이미지만</a:t>
            </a:r>
            <a:r>
              <a:rPr lang="en-US" sz="100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00" dirty="0" err="1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노출합니다</a:t>
            </a:r>
            <a:r>
              <a:rPr lang="en-US" sz="100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29584" y="2423160"/>
            <a:ext cx="2487168" cy="3337560"/>
          </a:xfrm>
          <a:prstGeom prst="roundRect">
            <a:avLst>
              <a:gd name="adj" fmla="val 2941"/>
            </a:avLst>
          </a:prstGeom>
          <a:solidFill>
            <a:srgbClr val="0B1B3A"/>
          </a:solidFill>
          <a:ln w="12700">
            <a:solidFill>
              <a:srgbClr val="1E2C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2651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7-2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49040" y="3081528"/>
            <a:ext cx="20482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점주 전용 2D 변환 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3904488"/>
            <a:ext cx="204825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점주가 실사 </a:t>
            </a:r>
            <a:r>
              <a:rPr lang="en-US" sz="1000" dirty="0" err="1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사진만</a:t>
            </a:r>
            <a:r>
              <a:rPr lang="en-US" sz="100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00" dirty="0" err="1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등록하면</a:t>
            </a:r>
            <a:r>
              <a:rPr lang="en-US" sz="100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00" dirty="0" err="1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변환</a:t>
            </a:r>
            <a:r>
              <a:rPr lang="en-US" sz="100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API가 월드용 </a:t>
            </a:r>
            <a:r>
              <a:rPr lang="en-US" sz="1000" dirty="0" err="1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스프라이트를</a:t>
            </a:r>
            <a:r>
              <a:rPr lang="en-US" sz="100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00" dirty="0" err="1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생성하고</a:t>
            </a:r>
            <a:r>
              <a:rPr lang="en-US" sz="100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en-US" sz="1000" dirty="0" err="1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점주</a:t>
            </a:r>
            <a:r>
              <a:rPr lang="en-US" sz="100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승인 후에만 노출됩니다.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36208" y="2423160"/>
            <a:ext cx="2487168" cy="3337560"/>
          </a:xfrm>
          <a:prstGeom prst="roundRect">
            <a:avLst>
              <a:gd name="adj" fmla="val 2941"/>
            </a:avLst>
          </a:prstGeom>
          <a:solidFill>
            <a:srgbClr val="0B1B3A"/>
          </a:solidFill>
          <a:ln w="12700">
            <a:solidFill>
              <a:srgbClr val="1E2C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2651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7-3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55664" y="3081528"/>
            <a:ext cx="20482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방향별 착용 스프라이트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55664" y="3904488"/>
            <a:ext cx="204825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부위별 레이어 합성과 방향별 스프라이트 시트로, 캐릭터가 걷는 동안에도 자연스럽게 상품을 표시합니다.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42832" y="2423160"/>
            <a:ext cx="2487168" cy="3337560"/>
          </a:xfrm>
          <a:prstGeom prst="roundRect">
            <a:avLst>
              <a:gd name="adj" fmla="val 2941"/>
            </a:avLst>
          </a:prstGeom>
          <a:solidFill>
            <a:srgbClr val="0B1B3A"/>
          </a:solidFill>
          <a:ln w="12700">
            <a:solidFill>
              <a:srgbClr val="1E2C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62288" y="2651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7-4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62288" y="3081528"/>
            <a:ext cx="20482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기반 구매·장착 검증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62288" y="3904488"/>
            <a:ext cx="204825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E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구매·지급 이력을 서버가 확인한 뒤에만 장착을 허용해, 무단 복제나 임의 이미지 사용을 방지합니다.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POP-UP CUBE  ·  온라인 팝업스토어 플랫폼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402775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286000"/>
            <a:ext cx="6400800" cy="6400800"/>
          </a:xfrm>
          <a:prstGeom prst="ellipse">
            <a:avLst/>
          </a:prstGeom>
          <a:solidFill>
            <a:srgbClr val="0B1B3A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02856" y="352044"/>
            <a:ext cx="1037844" cy="310896"/>
          </a:xfrm>
          <a:prstGeom prst="roundRect">
            <a:avLst>
              <a:gd name="adj" fmla="val 23529"/>
            </a:avLst>
          </a:prstGeom>
          <a:solidFill>
            <a:srgbClr val="13284D"/>
          </a:solidFill>
          <a:ln/>
        </p:spPr>
      </p:sp>
      <p:sp>
        <p:nvSpPr>
          <p:cNvPr id="4" name="Text 2"/>
          <p:cNvSpPr/>
          <p:nvPr/>
        </p:nvSpPr>
        <p:spPr>
          <a:xfrm>
            <a:off x="938370" y="372329"/>
            <a:ext cx="10378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66294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경험과 커머스를 잇는</a:t>
            </a:r>
            <a:endParaRPr lang="en-US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단계의 팝업스토어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1300" dirty="0">
                <a:solidFill>
                  <a:srgbClr val="AEB8CC"/>
                </a:solidFill>
                <a:latin typeface="Pretendard" pitchFamily="34" charset="0"/>
              </a:rPr>
              <a:t>저는</a:t>
            </a:r>
            <a:r>
              <a:rPr lang="en-US" altLang="ko-KR" sz="1300" dirty="0">
                <a:solidFill>
                  <a:srgbClr val="AEB8CC"/>
                </a:solidFill>
                <a:latin typeface="Pretendard" pitchFamily="34" charset="0"/>
              </a:rPr>
              <a:t>, 2020</a:t>
            </a:r>
            <a:r>
              <a:rPr lang="ko-KR" altLang="en-US" sz="1300" dirty="0">
                <a:solidFill>
                  <a:srgbClr val="AEB8CC"/>
                </a:solidFill>
                <a:latin typeface="Pretendard" pitchFamily="34" charset="0"/>
              </a:rPr>
              <a:t>년 코로나 팬데믹 시절부터 오프라인 쇼핑에 이점을 온라인으로 가져오려 했습니다</a:t>
            </a:r>
            <a:r>
              <a:rPr lang="en-US" altLang="ko-KR" sz="1300" dirty="0">
                <a:solidFill>
                  <a:srgbClr val="AEB8CC"/>
                </a:solidFill>
                <a:latin typeface="Pretendard" pitchFamily="34" charset="0"/>
              </a:rPr>
              <a:t>.</a:t>
            </a:r>
            <a:br>
              <a:rPr lang="en-US" altLang="ko-KR" sz="1300" dirty="0">
                <a:solidFill>
                  <a:srgbClr val="AEB8CC"/>
                </a:solidFill>
                <a:latin typeface="Pretendard" pitchFamily="34" charset="0"/>
              </a:rPr>
            </a:br>
            <a:r>
              <a:rPr lang="ko-KR" altLang="en-US" sz="1300" dirty="0">
                <a:solidFill>
                  <a:srgbClr val="AEB8CC"/>
                </a:solidFill>
                <a:latin typeface="Pretendard" pitchFamily="34" charset="0"/>
              </a:rPr>
              <a:t>일전에 만들었던 가구 맞춤제작 부터</a:t>
            </a:r>
            <a:r>
              <a:rPr lang="en-US" altLang="ko-KR" sz="1300" dirty="0">
                <a:solidFill>
                  <a:srgbClr val="AEB8CC"/>
                </a:solidFill>
                <a:latin typeface="Pretendard" pitchFamily="34" charset="0"/>
              </a:rPr>
              <a:t>, </a:t>
            </a:r>
            <a:r>
              <a:rPr lang="ko-KR" altLang="en-US" sz="1300" dirty="0">
                <a:solidFill>
                  <a:srgbClr val="AEB8CC"/>
                </a:solidFill>
                <a:latin typeface="Pretendard" pitchFamily="34" charset="0"/>
              </a:rPr>
              <a:t>더 이전에 저 혼자 공모전에 나갔던 </a:t>
            </a:r>
            <a:r>
              <a:rPr lang="en-US" altLang="ko-KR" sz="1300" dirty="0">
                <a:solidFill>
                  <a:srgbClr val="AEB8CC"/>
                </a:solidFill>
                <a:latin typeface="Pretendard" pitchFamily="34" charset="0"/>
              </a:rPr>
              <a:t>AR</a:t>
            </a:r>
            <a:r>
              <a:rPr lang="ko-KR" altLang="en-US" sz="1300" dirty="0">
                <a:solidFill>
                  <a:srgbClr val="AEB8CC"/>
                </a:solidFill>
                <a:latin typeface="Pretendard" pitchFamily="34" charset="0"/>
              </a:rPr>
              <a:t>로 입을 미리 입어보는 기능</a:t>
            </a:r>
            <a:r>
              <a:rPr lang="en-US" altLang="ko-KR" sz="1300" dirty="0">
                <a:solidFill>
                  <a:srgbClr val="AEB8CC"/>
                </a:solidFill>
                <a:latin typeface="Pretendard" pitchFamily="34" charset="0"/>
              </a:rPr>
              <a:t>. </a:t>
            </a:r>
            <a:br>
              <a:rPr lang="en-US" altLang="ko-KR" sz="1300" dirty="0">
                <a:solidFill>
                  <a:srgbClr val="AEB8CC"/>
                </a:solidFill>
                <a:latin typeface="Pretendard" pitchFamily="34" charset="0"/>
              </a:rPr>
            </a:br>
            <a:r>
              <a:rPr lang="ko-KR" altLang="en-US" sz="1300" dirty="0">
                <a:solidFill>
                  <a:srgbClr val="AEB8CC"/>
                </a:solidFill>
                <a:latin typeface="Pretendard" pitchFamily="34" charset="0"/>
              </a:rPr>
              <a:t>메이저 의류 메이커들이 서비스를 하기 </a:t>
            </a:r>
            <a:r>
              <a:rPr lang="en-US" altLang="ko-KR" sz="1300" dirty="0">
                <a:solidFill>
                  <a:srgbClr val="AEB8CC"/>
                </a:solidFill>
                <a:latin typeface="Pretendard" pitchFamily="34" charset="0"/>
              </a:rPr>
              <a:t>2</a:t>
            </a:r>
            <a:r>
              <a:rPr lang="ko-KR" altLang="en-US" sz="1300" dirty="0">
                <a:solidFill>
                  <a:srgbClr val="AEB8CC"/>
                </a:solidFill>
                <a:latin typeface="Pretendard" pitchFamily="34" charset="0"/>
              </a:rPr>
              <a:t>년 전 부터 저는 구상 해왔던 서비스입니다</a:t>
            </a:r>
            <a:r>
              <a:rPr lang="en-US" altLang="ko-KR" sz="1300" dirty="0">
                <a:solidFill>
                  <a:srgbClr val="AEB8CC"/>
                </a:solidFill>
                <a:latin typeface="Pretendard" pitchFamily="34" charset="0"/>
              </a:rPr>
              <a:t>.</a:t>
            </a:r>
            <a:br>
              <a:rPr lang="en-US" altLang="ko-KR" sz="1300" dirty="0">
                <a:solidFill>
                  <a:srgbClr val="AEB8CC"/>
                </a:solidFill>
                <a:latin typeface="Pretendard" pitchFamily="34" charset="0"/>
              </a:rPr>
            </a:br>
            <a:r>
              <a:rPr lang="ko-KR" altLang="en-US" sz="1300" dirty="0">
                <a:solidFill>
                  <a:srgbClr val="AEB8CC"/>
                </a:solidFill>
                <a:latin typeface="Pretendard" pitchFamily="34" charset="0"/>
              </a:rPr>
              <a:t>이 분야에서는 누구 보다 제가 전문가라고 자신 있게 말씀 드릴 수 있습니다</a:t>
            </a:r>
            <a:r>
              <a:rPr lang="en-US" altLang="ko-KR" sz="1300" dirty="0">
                <a:solidFill>
                  <a:srgbClr val="AEB8CC"/>
                </a:solidFill>
                <a:latin typeface="Pretendard" pitchFamily="34" charset="0"/>
              </a:rPr>
              <a:t>.</a:t>
            </a:r>
            <a:br>
              <a:rPr lang="en-US" altLang="ko-KR" sz="1300" dirty="0">
                <a:solidFill>
                  <a:srgbClr val="AEB8CC"/>
                </a:solidFill>
                <a:latin typeface="Pretendard" pitchFamily="34" charset="0"/>
              </a:rPr>
            </a:br>
            <a:br>
              <a:rPr lang="en-US" altLang="ko-KR" sz="1300" dirty="0">
                <a:solidFill>
                  <a:srgbClr val="AEB8CC"/>
                </a:solidFill>
                <a:latin typeface="Pretendard" pitchFamily="34" charset="0"/>
              </a:rPr>
            </a:br>
            <a:r>
              <a:rPr lang="ko-KR" altLang="en-US" sz="1300" dirty="0">
                <a:solidFill>
                  <a:srgbClr val="AEB8CC"/>
                </a:solidFill>
                <a:latin typeface="Pretendard" pitchFamily="34" charset="0"/>
              </a:rPr>
              <a:t>기술이 발전되면 자연히 생길 서비스다</a:t>
            </a:r>
            <a:r>
              <a:rPr lang="en-US" altLang="ko-KR" sz="1300" dirty="0">
                <a:solidFill>
                  <a:srgbClr val="AEB8CC"/>
                </a:solidFill>
                <a:latin typeface="Pretendard" pitchFamily="34" charset="0"/>
              </a:rPr>
              <a:t>? </a:t>
            </a:r>
            <a:r>
              <a:rPr lang="ko-KR" altLang="en-US" sz="1300" dirty="0">
                <a:solidFill>
                  <a:srgbClr val="AEB8CC"/>
                </a:solidFill>
                <a:latin typeface="Pretendard" pitchFamily="34" charset="0"/>
              </a:rPr>
              <a:t>라는 생각들을 많이 하시곤 하던데</a:t>
            </a:r>
            <a:r>
              <a:rPr lang="en-US" altLang="ko-KR" sz="1300" dirty="0">
                <a:solidFill>
                  <a:srgbClr val="AEB8CC"/>
                </a:solidFill>
                <a:latin typeface="Pretendard" pitchFamily="34" charset="0"/>
              </a:rPr>
              <a:t>, </a:t>
            </a:r>
            <a:r>
              <a:rPr lang="ko-KR" altLang="en-US" sz="1300" dirty="0">
                <a:solidFill>
                  <a:srgbClr val="AEB8CC"/>
                </a:solidFill>
                <a:latin typeface="Pretendard" pitchFamily="34" charset="0"/>
              </a:rPr>
              <a:t>그것은 대중의 심리라고 생각합니다</a:t>
            </a:r>
            <a:r>
              <a:rPr lang="en-US" altLang="ko-KR" sz="1300" dirty="0">
                <a:solidFill>
                  <a:srgbClr val="AEB8CC"/>
                </a:solidFill>
                <a:latin typeface="Pretendard" pitchFamily="34" charset="0"/>
              </a:rPr>
              <a:t>.</a:t>
            </a:r>
            <a:br>
              <a:rPr lang="en-US" altLang="ko-KR" sz="1300" dirty="0">
                <a:solidFill>
                  <a:srgbClr val="AEB8CC"/>
                </a:solidFill>
                <a:latin typeface="Pretendard" pitchFamily="34" charset="0"/>
              </a:rPr>
            </a:br>
            <a:r>
              <a:rPr lang="ko-KR" altLang="en-US" sz="1300" dirty="0">
                <a:solidFill>
                  <a:srgbClr val="AEB8CC"/>
                </a:solidFill>
                <a:latin typeface="Pretendard" pitchFamily="34" charset="0"/>
              </a:rPr>
              <a:t>사업가라면 독점할 기회를 놓치지 않는 것이 더욱 더 중요하다고 생각합니다</a:t>
            </a:r>
            <a:r>
              <a:rPr lang="en-US" altLang="ko-KR" sz="1300" dirty="0">
                <a:solidFill>
                  <a:srgbClr val="AEB8CC"/>
                </a:solidFill>
                <a:latin typeface="Pretendard" pitchFamily="34" charset="0"/>
              </a:rPr>
              <a:t>.</a:t>
            </a:r>
            <a:br>
              <a:rPr lang="en-US" altLang="ko-KR" sz="1300" dirty="0">
                <a:solidFill>
                  <a:srgbClr val="AEB8CC"/>
                </a:solidFill>
                <a:latin typeface="Pretendard" pitchFamily="34" charset="0"/>
              </a:rPr>
            </a:b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0121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100" dirty="0">
                <a:solidFill>
                  <a:srgbClr val="8A93AA"/>
                </a:solidFill>
                <a:latin typeface="Pretendard" pitchFamily="34" charset="0"/>
              </a:rPr>
              <a:t>-</a:t>
            </a:r>
            <a:r>
              <a:rPr lang="ko-KR" altLang="en-US" sz="1100" dirty="0">
                <a:solidFill>
                  <a:srgbClr val="8A93AA"/>
                </a:solidFill>
                <a:latin typeface="Pretendard" pitchFamily="34" charset="0"/>
              </a:rPr>
              <a:t>심현우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1723</Words>
  <Application>Microsoft Office PowerPoint</Application>
  <PresentationFormat>와이드스크린</PresentationFormat>
  <Paragraphs>213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현우 심</cp:lastModifiedBy>
  <cp:revision>4</cp:revision>
  <dcterms:created xsi:type="dcterms:W3CDTF">2026-07-18T09:22:51Z</dcterms:created>
  <dcterms:modified xsi:type="dcterms:W3CDTF">2026-07-19T18:22:28Z</dcterms:modified>
</cp:coreProperties>
</file>